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EYInterstate Light" panose="02000506000000020004" pitchFamily="2" charset="0"/>
      <p:regular r:id="rId4"/>
      <p:bold r:id="rId5"/>
      <p:italic r:id="rId6"/>
      <p:boldItalic r:id="rId7"/>
    </p:embeddedFont>
    <p:embeddedFont>
      <p:font typeface="Inter Light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b/pD8Ln3VnnagXcPzH8HAuEI7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57D8B-7340-4DC7-BB9A-95397C031D47}" v="18" dt="2026-04-30T04:55:45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microsoft.com/office/2015/10/relationships/revisionInfo" Target="revisionInfo.xml"/><Relationship Id="rId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n R Mohapatra" userId="21c49fa1-908d-47f7-9acc-1e5b1efe8a53" providerId="ADAL" clId="{610E0047-D3AD-40EA-8C6A-E14844E244CA}"/>
    <pc:docChg chg="undo custSel modSld">
      <pc:chgData name="Sachin R Mohapatra" userId="21c49fa1-908d-47f7-9acc-1e5b1efe8a53" providerId="ADAL" clId="{610E0047-D3AD-40EA-8C6A-E14844E244CA}" dt="2026-04-30T04:57:40.880" v="1250" actId="20577"/>
      <pc:docMkLst>
        <pc:docMk/>
      </pc:docMkLst>
      <pc:sldChg chg="addSp modSp mod">
        <pc:chgData name="Sachin R Mohapatra" userId="21c49fa1-908d-47f7-9acc-1e5b1efe8a53" providerId="ADAL" clId="{610E0047-D3AD-40EA-8C6A-E14844E244CA}" dt="2026-04-30T04:57:40.880" v="1250" actId="20577"/>
        <pc:sldMkLst>
          <pc:docMk/>
          <pc:sldMk cId="0" sldId="256"/>
        </pc:sldMkLst>
        <pc:spChg chg="mod">
          <ac:chgData name="Sachin R Mohapatra" userId="21c49fa1-908d-47f7-9acc-1e5b1efe8a53" providerId="ADAL" clId="{610E0047-D3AD-40EA-8C6A-E14844E244CA}" dt="2026-04-30T04:48:41.229" v="1166" actId="1035"/>
          <ac:spMkLst>
            <pc:docMk/>
            <pc:sldMk cId="0" sldId="256"/>
            <ac:spMk id="3" creationId="{9C566E5B-3EC0-7CBB-EA6A-BFEA5DAEF115}"/>
          </ac:spMkLst>
        </pc:spChg>
        <pc:spChg chg="mod">
          <ac:chgData name="Sachin R Mohapatra" userId="21c49fa1-908d-47f7-9acc-1e5b1efe8a53" providerId="ADAL" clId="{610E0047-D3AD-40EA-8C6A-E14844E244CA}" dt="2026-04-30T04:57:00.507" v="1225" actId="1076"/>
          <ac:spMkLst>
            <pc:docMk/>
            <pc:sldMk cId="0" sldId="256"/>
            <ac:spMk id="9" creationId="{93578D4C-4AC9-8B5C-A25B-9F7F5975A397}"/>
          </ac:spMkLst>
        </pc:spChg>
        <pc:spChg chg="mod">
          <ac:chgData name="Sachin R Mohapatra" userId="21c49fa1-908d-47f7-9acc-1e5b1efe8a53" providerId="ADAL" clId="{610E0047-D3AD-40EA-8C6A-E14844E244CA}" dt="2026-04-30T04:48:37.353" v="1160" actId="1035"/>
          <ac:spMkLst>
            <pc:docMk/>
            <pc:sldMk cId="0" sldId="256"/>
            <ac:spMk id="13" creationId="{71F24A26-C436-F432-815B-BCB45FA888BA}"/>
          </ac:spMkLst>
        </pc:spChg>
        <pc:spChg chg="mod">
          <ac:chgData name="Sachin R Mohapatra" userId="21c49fa1-908d-47f7-9acc-1e5b1efe8a53" providerId="ADAL" clId="{610E0047-D3AD-40EA-8C6A-E14844E244CA}" dt="2026-04-30T04:57:40.880" v="1250" actId="20577"/>
          <ac:spMkLst>
            <pc:docMk/>
            <pc:sldMk cId="0" sldId="256"/>
            <ac:spMk id="18" creationId="{08CB0FE8-D937-37F9-3306-F1EFBD7C64D8}"/>
          </ac:spMkLst>
        </pc:spChg>
        <pc:spChg chg="mod">
          <ac:chgData name="Sachin R Mohapatra" userId="21c49fa1-908d-47f7-9acc-1e5b1efe8a53" providerId="ADAL" clId="{610E0047-D3AD-40EA-8C6A-E14844E244CA}" dt="2026-04-30T04:56:16.187" v="1223" actId="1076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Sachin R Mohapatra" userId="21c49fa1-908d-47f7-9acc-1e5b1efe8a53" providerId="ADAL" clId="{610E0047-D3AD-40EA-8C6A-E14844E244CA}" dt="2026-04-30T04:45:48.528" v="1093" actId="108"/>
          <ac:spMkLst>
            <pc:docMk/>
            <pc:sldMk cId="0" sldId="256"/>
            <ac:spMk id="111" creationId="{00000000-0000-0000-0000-000000000000}"/>
          </ac:spMkLst>
        </pc:spChg>
        <pc:grpChg chg="mod">
          <ac:chgData name="Sachin R Mohapatra" userId="21c49fa1-908d-47f7-9acc-1e5b1efe8a53" providerId="ADAL" clId="{610E0047-D3AD-40EA-8C6A-E14844E244CA}" dt="2026-04-30T04:47:59.341" v="1109" actId="1035"/>
          <ac:grpSpMkLst>
            <pc:docMk/>
            <pc:sldMk cId="0" sldId="256"/>
            <ac:grpSpMk id="92" creationId="{00000000-0000-0000-0000-000000000000}"/>
          </ac:grpSpMkLst>
        </pc:grpChg>
        <pc:graphicFrameChg chg="add mod">
          <ac:chgData name="Sachin R Mohapatra" userId="21c49fa1-908d-47f7-9acc-1e5b1efe8a53" providerId="ADAL" clId="{610E0047-D3AD-40EA-8C6A-E14844E244CA}" dt="2026-04-30T04:28:43.602" v="766"/>
          <ac:graphicFrameMkLst>
            <pc:docMk/>
            <pc:sldMk cId="0" sldId="256"/>
            <ac:graphicFrameMk id="4" creationId="{A6C774DB-787C-3580-3875-057ECA1FD284}"/>
          </ac:graphicFrameMkLst>
        </pc:graphicFrameChg>
        <pc:graphicFrameChg chg="add mod">
          <ac:chgData name="Sachin R Mohapatra" userId="21c49fa1-908d-47f7-9acc-1e5b1efe8a53" providerId="ADAL" clId="{610E0047-D3AD-40EA-8C6A-E14844E244CA}" dt="2026-04-30T04:29:03.364" v="767"/>
          <ac:graphicFrameMkLst>
            <pc:docMk/>
            <pc:sldMk cId="0" sldId="256"/>
            <ac:graphicFrameMk id="5" creationId="{F7F67C78-A8EA-A41A-8ED6-F9D3726F76D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506724" y="156637"/>
            <a:ext cx="11083335" cy="863718"/>
          </a:xfrm>
          <a:prstGeom prst="rect">
            <a:avLst/>
          </a:prstGeom>
          <a:solidFill>
            <a:srgbClr val="FFE6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200" tIns="45600" rIns="91200" bIns="45600" anchor="ctr" anchorCtr="0">
            <a:noAutofit/>
          </a:bodyPr>
          <a:lstStyle/>
          <a:p>
            <a:pPr lvl="0">
              <a:lnSpc>
                <a:spcPct val="112000"/>
              </a:lnSpc>
              <a:buSzPts val="1200"/>
            </a:pPr>
            <a:r>
              <a:rPr lang="en-IN" sz="2400" b="1" dirty="0">
                <a:latin typeface="EYInterstate Light" panose="02000506000000020004" pitchFamily="2" charset="0"/>
                <a:ea typeface="Inter Light"/>
                <a:cs typeface="Inter Light"/>
                <a:sym typeface="Inter Light"/>
              </a:rPr>
              <a:t>   Sachin Mohapatra</a:t>
            </a:r>
            <a:endParaRPr sz="2400" dirty="0">
              <a:latin typeface="EYInterstate Light" panose="02000506000000020004" pitchFamily="2" charset="0"/>
            </a:endParaRPr>
          </a:p>
          <a:p>
            <a:pPr lvl="0">
              <a:lnSpc>
                <a:spcPct val="112000"/>
              </a:lnSpc>
              <a:buClr>
                <a:schemeClr val="dk1"/>
              </a:buClr>
              <a:buSzPts val="2400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EYInterstate Light" panose="02000506000000020004" pitchFamily="2" charset="0"/>
                <a:ea typeface="Calibri"/>
                <a:cs typeface="Calibri"/>
                <a:sym typeface="Calibri"/>
              </a:rPr>
              <a:t>    </a:t>
            </a:r>
            <a:r>
              <a:rPr lang="en-IN" sz="2400" dirty="0">
                <a:solidFill>
                  <a:schemeClr val="dk1"/>
                </a:solidFill>
                <a:latin typeface="EYInterstate Light" panose="02000506000000020004" pitchFamily="2" charset="0"/>
                <a:ea typeface="Calibri"/>
                <a:cs typeface="Calibri"/>
                <a:sym typeface="Calibri"/>
              </a:rPr>
              <a:t>+91 7852911797</a:t>
            </a:r>
          </a:p>
        </p:txBody>
      </p:sp>
      <p:sp>
        <p:nvSpPr>
          <p:cNvPr id="91" name="Google Shape;91;p1"/>
          <p:cNvSpPr/>
          <p:nvPr/>
        </p:nvSpPr>
        <p:spPr>
          <a:xfrm>
            <a:off x="469245" y="1185434"/>
            <a:ext cx="3200053" cy="52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00" tIns="287400" rIns="43100" bIns="43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 b="0" i="0" u="none" strike="noStrike" cap="none">
              <a:solidFill>
                <a:schemeClr val="dk1"/>
              </a:solidFill>
              <a:latin typeface="EYInterstate Light" panose="02000506000000020004" pitchFamily="2" charset="0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7984276" y="4429306"/>
            <a:ext cx="3637203" cy="208287"/>
            <a:chOff x="639763" y="1564585"/>
            <a:chExt cx="2460185" cy="327991"/>
          </a:xfrm>
        </p:grpSpPr>
        <p:sp>
          <p:nvSpPr>
            <p:cNvPr id="93" name="Google Shape;93;p1"/>
            <p:cNvSpPr/>
            <p:nvPr/>
          </p:nvSpPr>
          <p:spPr>
            <a:xfrm>
              <a:off x="639763" y="1564585"/>
              <a:ext cx="75854" cy="327991"/>
            </a:xfrm>
            <a:prstGeom prst="rect">
              <a:avLst/>
            </a:prstGeom>
            <a:solidFill>
              <a:srgbClr val="FFE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96"/>
                <a:buFont typeface="Calibri"/>
                <a:buNone/>
              </a:pPr>
              <a:endParaRPr sz="850" b="0" i="0" u="none" strike="noStrike" cap="none" dirty="0">
                <a:solidFill>
                  <a:srgbClr val="FFFFFF"/>
                </a:solidFill>
                <a:latin typeface="EYInterstate Light" panose="02000506000000020004" pitchFamily="2" charset="0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84994" y="1564585"/>
              <a:ext cx="2414954" cy="327991"/>
            </a:xfrm>
            <a:prstGeom prst="rect">
              <a:avLst/>
            </a:pr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Light"/>
                <a:buNone/>
              </a:pPr>
              <a:r>
                <a:rPr lang="en-IN" sz="850" b="1" i="0" u="none" strike="noStrike" cap="none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Education </a:t>
              </a:r>
              <a:endParaRPr sz="850" dirty="0">
                <a:latin typeface="EYInterstate Light" panose="02000506000000020004" pitchFamily="2" charset="0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506724" y="1260921"/>
            <a:ext cx="3142297" cy="167238"/>
            <a:chOff x="639763" y="1564585"/>
            <a:chExt cx="3369582" cy="327991"/>
          </a:xfrm>
        </p:grpSpPr>
        <p:sp>
          <p:nvSpPr>
            <p:cNvPr id="96" name="Google Shape;96;p1"/>
            <p:cNvSpPr/>
            <p:nvPr/>
          </p:nvSpPr>
          <p:spPr>
            <a:xfrm>
              <a:off x="639763" y="1564585"/>
              <a:ext cx="75854" cy="327991"/>
            </a:xfrm>
            <a:prstGeom prst="rect">
              <a:avLst/>
            </a:prstGeom>
            <a:solidFill>
              <a:srgbClr val="FFE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96"/>
                <a:buFont typeface="Calibri"/>
                <a:buNone/>
              </a:pPr>
              <a:endParaRPr sz="850" b="0" i="0" u="none" strike="noStrike" cap="none">
                <a:solidFill>
                  <a:srgbClr val="000000"/>
                </a:solidFill>
                <a:latin typeface="EYInterstate Light" panose="02000506000000020004" pitchFamily="2" charset="0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98631" y="1564585"/>
              <a:ext cx="3310714" cy="327991"/>
            </a:xfrm>
            <a:prstGeom prst="rect">
              <a:avLst/>
            </a:pr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Light"/>
                <a:buNone/>
              </a:pPr>
              <a:r>
                <a:rPr lang="en-IN" sz="850" b="1" i="0" u="none" strike="noStrike" cap="none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Professional Overview</a:t>
              </a:r>
              <a:endParaRPr sz="850" dirty="0">
                <a:latin typeface="EYInterstate Light" panose="02000506000000020004" pitchFamily="2" charset="0"/>
              </a:endParaRPr>
            </a:p>
          </p:txBody>
        </p:sp>
      </p:grpSp>
      <p:cxnSp>
        <p:nvCxnSpPr>
          <p:cNvPr id="98" name="Google Shape;98;p1"/>
          <p:cNvCxnSpPr/>
          <p:nvPr/>
        </p:nvCxnSpPr>
        <p:spPr>
          <a:xfrm>
            <a:off x="3759599" y="1403729"/>
            <a:ext cx="0" cy="45710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9" name="Google Shape;99;p1"/>
          <p:cNvGrpSpPr/>
          <p:nvPr/>
        </p:nvGrpSpPr>
        <p:grpSpPr>
          <a:xfrm>
            <a:off x="3887663" y="1243128"/>
            <a:ext cx="3805364" cy="199245"/>
            <a:chOff x="639763" y="1548400"/>
            <a:chExt cx="3386567" cy="344176"/>
          </a:xfrm>
        </p:grpSpPr>
        <p:sp>
          <p:nvSpPr>
            <p:cNvPr id="100" name="Google Shape;100;p1"/>
            <p:cNvSpPr/>
            <p:nvPr/>
          </p:nvSpPr>
          <p:spPr>
            <a:xfrm>
              <a:off x="639763" y="1564585"/>
              <a:ext cx="75854" cy="327991"/>
            </a:xfrm>
            <a:prstGeom prst="rect">
              <a:avLst/>
            </a:prstGeom>
            <a:solidFill>
              <a:srgbClr val="FFE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96"/>
                <a:buFont typeface="Calibri"/>
                <a:buNone/>
              </a:pPr>
              <a:endParaRPr sz="850" b="0" i="0" u="none" strike="noStrike" cap="none">
                <a:solidFill>
                  <a:srgbClr val="000000"/>
                </a:solidFill>
                <a:latin typeface="EYInterstate Light" panose="02000506000000020004" pitchFamily="2" charset="0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715616" y="1548400"/>
              <a:ext cx="3310714" cy="327991"/>
            </a:xfrm>
            <a:prstGeom prst="rect">
              <a:avLst/>
            </a:pr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FFFFFF"/>
                </a:buClr>
                <a:buSzPts val="900"/>
              </a:pPr>
              <a:r>
                <a:rPr lang="en-IN" sz="850" b="1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Professional Experience</a:t>
              </a:r>
              <a:endParaRPr lang="en-IN" sz="850" dirty="0">
                <a:latin typeface="EYInterstate Light" panose="02000506000000020004" pitchFamily="2" charset="0"/>
              </a:endParaRPr>
            </a:p>
          </p:txBody>
        </p:sp>
      </p:grpSp>
      <p:cxnSp>
        <p:nvCxnSpPr>
          <p:cNvPr id="102" name="Google Shape;102;p1"/>
          <p:cNvCxnSpPr/>
          <p:nvPr/>
        </p:nvCxnSpPr>
        <p:spPr>
          <a:xfrm>
            <a:off x="7803606" y="1403729"/>
            <a:ext cx="0" cy="45710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3" name="Google Shape;103;p1"/>
          <p:cNvSpPr txBox="1"/>
          <p:nvPr/>
        </p:nvSpPr>
        <p:spPr>
          <a:xfrm>
            <a:off x="8704385" y="335806"/>
            <a:ext cx="2417884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850" b="1" i="0" u="none" strike="noStrike" cap="none">
              <a:solidFill>
                <a:srgbClr val="000000"/>
              </a:solidFill>
              <a:latin typeface="EYInterstate Light" panose="02000506000000020004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660072" y="6496175"/>
            <a:ext cx="10871855" cy="0"/>
          </a:xfrm>
          <a:prstGeom prst="straightConnector1">
            <a:avLst/>
          </a:prstGeom>
          <a:noFill/>
          <a:ln w="28575" cap="flat" cmpd="sng">
            <a:solidFill>
              <a:srgbClr val="FFE6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"/>
          <p:cNvSpPr txBox="1"/>
          <p:nvPr/>
        </p:nvSpPr>
        <p:spPr>
          <a:xfrm>
            <a:off x="378944" y="1492435"/>
            <a:ext cx="3200054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 b="0" i="0" u="none" strike="noStrike" cap="none">
              <a:solidFill>
                <a:schemeClr val="dk1"/>
              </a:solidFill>
              <a:latin typeface="EYInterstate Light" panose="02000506000000020004" pitchFamily="2" charset="0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850" b="0" i="0" u="none" strike="noStrike" cap="none">
              <a:solidFill>
                <a:srgbClr val="000000"/>
              </a:solidFill>
              <a:latin typeface="EYInterstate Light" panose="02000506000000020004" pitchFamily="2" charset="0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7952857" y="1220172"/>
            <a:ext cx="3637204" cy="199506"/>
            <a:chOff x="657413" y="1547970"/>
            <a:chExt cx="3368917" cy="328421"/>
          </a:xfrm>
        </p:grpSpPr>
        <p:sp>
          <p:nvSpPr>
            <p:cNvPr id="108" name="Google Shape;108;p1"/>
            <p:cNvSpPr/>
            <p:nvPr/>
          </p:nvSpPr>
          <p:spPr>
            <a:xfrm>
              <a:off x="657413" y="1547970"/>
              <a:ext cx="75854" cy="327991"/>
            </a:xfrm>
            <a:prstGeom prst="rect">
              <a:avLst/>
            </a:prstGeom>
            <a:solidFill>
              <a:srgbClr val="FFE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96"/>
                <a:buFont typeface="Calibri"/>
                <a:buNone/>
              </a:pPr>
              <a:endParaRPr sz="850" b="0" i="0" u="none" strike="noStrike" cap="none" dirty="0">
                <a:solidFill>
                  <a:srgbClr val="000000"/>
                </a:solidFill>
                <a:latin typeface="EYInterstate Light" panose="02000506000000020004" pitchFamily="2" charset="0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715616" y="1548400"/>
              <a:ext cx="3310714" cy="327991"/>
            </a:xfrm>
            <a:prstGeom prst="rect">
              <a:avLst/>
            </a:pr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Light"/>
                <a:buNone/>
              </a:pPr>
              <a:r>
                <a:rPr lang="en-IN" sz="850" b="1" i="0" u="none" strike="noStrike" cap="none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Professional Experience</a:t>
              </a:r>
              <a:endParaRPr sz="850" dirty="0">
                <a:latin typeface="EYInterstate Light" panose="02000506000000020004" pitchFamily="2" charset="0"/>
              </a:endParaRPr>
            </a:p>
          </p:txBody>
        </p:sp>
      </p:grpSp>
      <p:sp>
        <p:nvSpPr>
          <p:cNvPr id="110" name="Google Shape;110;p1"/>
          <p:cNvSpPr txBox="1"/>
          <p:nvPr/>
        </p:nvSpPr>
        <p:spPr>
          <a:xfrm>
            <a:off x="436939" y="1567547"/>
            <a:ext cx="3319753" cy="2139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3510" indent="-143510" algn="just">
              <a:spcAft>
                <a:spcPts val="6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50" b="1" dirty="0"/>
              <a:t>Machine Learning Engineer / Data Scientist</a:t>
            </a:r>
            <a:r>
              <a:rPr lang="en-IN" sz="950" dirty="0"/>
              <a:t> specializing in </a:t>
            </a:r>
            <a:r>
              <a:rPr lang="en-IN" sz="950" b="1" dirty="0"/>
              <a:t>end‑to‑end ML pipelines and </a:t>
            </a:r>
            <a:r>
              <a:rPr lang="en-IN" sz="950" b="1" dirty="0" err="1"/>
              <a:t>MLOps</a:t>
            </a:r>
            <a:r>
              <a:rPr lang="en-IN" sz="950" dirty="0"/>
              <a:t>, from raw data ingestion to model deployment in cloud environments.</a:t>
            </a:r>
          </a:p>
          <a:p>
            <a:pPr marL="143510" indent="-143510" algn="just">
              <a:spcAft>
                <a:spcPts val="6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dirty="0"/>
              <a:t>Proficient in Python (ML), SQL, Scikit‑learn, and Excel (VBA) with proven ability to automate workflows, reduce manual effort, and improve analytical accuracy</a:t>
            </a:r>
            <a:r>
              <a:rPr lang="en-IN" sz="950" dirty="0"/>
              <a:t> </a:t>
            </a:r>
          </a:p>
          <a:p>
            <a:pPr marL="143510" indent="-143510" algn="just">
              <a:spcAft>
                <a:spcPts val="6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dirty="0"/>
              <a:t>Experienced in </a:t>
            </a:r>
            <a:r>
              <a:rPr lang="en-IN" sz="1000" b="1" dirty="0"/>
              <a:t>EDA</a:t>
            </a:r>
            <a:r>
              <a:rPr lang="en-IN" sz="1000" dirty="0"/>
              <a:t>, data validation, feature engineering, and </a:t>
            </a:r>
            <a:r>
              <a:rPr lang="en-IN" sz="1000" b="1" dirty="0" err="1"/>
              <a:t>MLOps</a:t>
            </a:r>
            <a:r>
              <a:rPr lang="en-IN" sz="1000" b="1" dirty="0"/>
              <a:t> workflows</a:t>
            </a:r>
            <a:r>
              <a:rPr lang="en-IN" sz="1000" dirty="0"/>
              <a:t>, including containerization, </a:t>
            </a:r>
            <a:r>
              <a:rPr lang="en-IN" sz="1000" b="1" dirty="0"/>
              <a:t>CI/CD</a:t>
            </a:r>
            <a:r>
              <a:rPr lang="en-IN" sz="1000" dirty="0"/>
              <a:t>, experiment tracking, and cloud deployment of ML solutions.</a:t>
            </a:r>
            <a:endParaRPr lang="en-IN" sz="950" dirty="0">
              <a:latin typeface="EYInterstate Light" panose="02000506000000020004" pitchFamily="2" charset="0"/>
              <a:ea typeface="Inter Light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398488" y="3888292"/>
            <a:ext cx="3305821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Programming &amp; ML Analytics</a:t>
            </a:r>
            <a:r>
              <a:rPr lang="en-IN" sz="1000" dirty="0"/>
              <a:t>: Python (Pandas, NumPy), Scikit‑learn, SQL</a:t>
            </a:r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ML Engineering</a:t>
            </a:r>
            <a:r>
              <a:rPr lang="en-IN" sz="1000" dirty="0"/>
              <a:t>: End‑to‑End ML Pipelines, Model Serialization (Pickle), Inference Pipelines, </a:t>
            </a:r>
            <a:r>
              <a:rPr lang="en-IN" sz="1000" dirty="0" err="1"/>
              <a:t>Mlflow</a:t>
            </a:r>
            <a:r>
              <a:rPr lang="en-IN" sz="1000" dirty="0"/>
              <a:t>, </a:t>
            </a:r>
            <a:r>
              <a:rPr lang="en-IN" sz="1000" dirty="0" err="1"/>
              <a:t>DagsHub</a:t>
            </a:r>
            <a:endParaRPr lang="en-IN" sz="1000" dirty="0"/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Data Analysis</a:t>
            </a:r>
            <a:r>
              <a:rPr lang="en-IN" sz="1000" dirty="0"/>
              <a:t>: Exploratory Data Analysis (EDA), Data Ingestion, Data Cleaning, Data Transformation</a:t>
            </a:r>
          </a:p>
          <a:p>
            <a:pPr marL="143510" indent="-143510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Cloud</a:t>
            </a:r>
            <a:r>
              <a:rPr lang="en-IN" sz="1000" dirty="0">
                <a:latin typeface="EYInterstate Light" panose="02000506000000020004" pitchFamily="2" charset="0"/>
                <a:ea typeface="Inter Light"/>
              </a:rPr>
              <a:t> : </a:t>
            </a:r>
            <a:r>
              <a:rPr lang="en-IN" sz="1000" dirty="0"/>
              <a:t>Azure Web App Services, AWS (EC2,S3,ECR)</a:t>
            </a:r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PIPELINES</a:t>
            </a:r>
            <a:r>
              <a:rPr lang="en-IN" sz="1000" b="1" dirty="0">
                <a:latin typeface="EYInterstate Light" panose="02000506000000020004" pitchFamily="2" charset="0"/>
                <a:ea typeface="Inter Light"/>
              </a:rPr>
              <a:t>:</a:t>
            </a:r>
            <a:r>
              <a:rPr lang="en-IN" sz="1000" dirty="0">
                <a:latin typeface="EYInterstate Light" panose="02000506000000020004" pitchFamily="2" charset="0"/>
                <a:ea typeface="Inter Light"/>
              </a:rPr>
              <a:t> </a:t>
            </a:r>
            <a:r>
              <a:rPr lang="en-IN" sz="1000" dirty="0"/>
              <a:t>CI/CD Pipelines</a:t>
            </a:r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Database</a:t>
            </a:r>
            <a:r>
              <a:rPr lang="en-IN" sz="1000" dirty="0">
                <a:latin typeface="EYInterstate Light" panose="02000506000000020004" pitchFamily="2" charset="0"/>
                <a:ea typeface="Inter Light"/>
              </a:rPr>
              <a:t>: </a:t>
            </a:r>
            <a:r>
              <a:rPr lang="en-IN" sz="1000" dirty="0" err="1"/>
              <a:t>MongoBD</a:t>
            </a:r>
            <a:endParaRPr lang="en-IN" sz="1000" dirty="0"/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Frameworks</a:t>
            </a:r>
            <a:r>
              <a:rPr lang="en-IN" sz="1000" b="1" dirty="0">
                <a:latin typeface="EYInterstate Light" panose="02000506000000020004" pitchFamily="2" charset="0"/>
                <a:ea typeface="Inter Light"/>
              </a:rPr>
              <a:t>: </a:t>
            </a:r>
            <a:r>
              <a:rPr lang="en-IN" sz="1000" dirty="0"/>
              <a:t>Flask, </a:t>
            </a:r>
            <a:r>
              <a:rPr lang="en-IN" sz="1000" dirty="0" err="1"/>
              <a:t>Streamlit</a:t>
            </a:r>
            <a:endParaRPr lang="en-IN" sz="1000" dirty="0"/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Databases</a:t>
            </a:r>
            <a:r>
              <a:rPr lang="en-IN" sz="1000" dirty="0"/>
              <a:t>: SQL Server, relational databases</a:t>
            </a:r>
            <a:endParaRPr lang="en-IN" sz="1000" dirty="0">
              <a:latin typeface="EYInterstate Light" panose="02000506000000020004" pitchFamily="2" charset="0"/>
              <a:ea typeface="Inter Light"/>
            </a:endParaRPr>
          </a:p>
          <a:p>
            <a:pPr marL="143510" indent="-143510" algn="just">
              <a:spcAft>
                <a:spcPts val="3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1000" b="1" dirty="0"/>
              <a:t>Tools</a:t>
            </a:r>
            <a:r>
              <a:rPr lang="en-IN" sz="1000" dirty="0"/>
              <a:t>: </a:t>
            </a:r>
            <a:r>
              <a:rPr lang="en-IN" sz="1000" dirty="0" err="1"/>
              <a:t>Jupyter</a:t>
            </a:r>
            <a:r>
              <a:rPr lang="en-IN" sz="1000" dirty="0"/>
              <a:t> Notebook, </a:t>
            </a:r>
            <a:r>
              <a:rPr lang="en-IN" sz="1000" dirty="0" err="1"/>
              <a:t>Github</a:t>
            </a:r>
            <a:r>
              <a:rPr lang="en-IN" sz="1000" dirty="0"/>
              <a:t>, Docker</a:t>
            </a:r>
            <a:endParaRPr lang="en-IN" sz="1000" dirty="0">
              <a:latin typeface="EYInterstate Light" panose="02000506000000020004" pitchFamily="2" charset="0"/>
              <a:ea typeface="Inter Light"/>
            </a:endParaRPr>
          </a:p>
        </p:txBody>
      </p:sp>
      <p:grpSp>
        <p:nvGrpSpPr>
          <p:cNvPr id="2" name="Google Shape;92;p1">
            <a:extLst>
              <a:ext uri="{FF2B5EF4-FFF2-40B4-BE49-F238E27FC236}">
                <a16:creationId xmlns:a16="http://schemas.microsoft.com/office/drawing/2014/main" id="{69ED3857-E6E8-F63F-948A-9334950D97A4}"/>
              </a:ext>
            </a:extLst>
          </p:cNvPr>
          <p:cNvGrpSpPr/>
          <p:nvPr/>
        </p:nvGrpSpPr>
        <p:grpSpPr>
          <a:xfrm>
            <a:off x="506724" y="3611861"/>
            <a:ext cx="3159102" cy="166616"/>
            <a:chOff x="672156" y="1564585"/>
            <a:chExt cx="2458415" cy="327991"/>
          </a:xfrm>
        </p:grpSpPr>
        <p:sp>
          <p:nvSpPr>
            <p:cNvPr id="11" name="Google Shape;93;p1">
              <a:extLst>
                <a:ext uri="{FF2B5EF4-FFF2-40B4-BE49-F238E27FC236}">
                  <a16:creationId xmlns:a16="http://schemas.microsoft.com/office/drawing/2014/main" id="{8DCA981E-370D-3A1B-3FDE-E1C657CDE927}"/>
                </a:ext>
              </a:extLst>
            </p:cNvPr>
            <p:cNvSpPr/>
            <p:nvPr/>
          </p:nvSpPr>
          <p:spPr>
            <a:xfrm>
              <a:off x="672156" y="1564585"/>
              <a:ext cx="43460" cy="327991"/>
            </a:xfrm>
            <a:prstGeom prst="rect">
              <a:avLst/>
            </a:prstGeom>
            <a:solidFill>
              <a:srgbClr val="FFE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96"/>
                <a:buFont typeface="Calibri"/>
                <a:buNone/>
              </a:pPr>
              <a:endParaRPr sz="850" b="0" i="0" u="none" strike="noStrike" cap="none">
                <a:solidFill>
                  <a:srgbClr val="FFFFFF"/>
                </a:solidFill>
                <a:latin typeface="EYInterstate Light" panose="02000506000000020004" pitchFamily="2" charset="0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2" name="Google Shape;94;p1">
              <a:extLst>
                <a:ext uri="{FF2B5EF4-FFF2-40B4-BE49-F238E27FC236}">
                  <a16:creationId xmlns:a16="http://schemas.microsoft.com/office/drawing/2014/main" id="{B5A4E8E8-BCAF-2EA5-588E-2073F7B0C992}"/>
                </a:ext>
              </a:extLst>
            </p:cNvPr>
            <p:cNvSpPr/>
            <p:nvPr/>
          </p:nvSpPr>
          <p:spPr>
            <a:xfrm>
              <a:off x="715617" y="1564585"/>
              <a:ext cx="2414954" cy="327991"/>
            </a:xfrm>
            <a:prstGeom prst="rect">
              <a:avLst/>
            </a:pr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1">
                <a:buClr>
                  <a:srgbClr val="FFFFFF"/>
                </a:buClr>
                <a:buSzPts val="900"/>
              </a:pPr>
              <a:r>
                <a:rPr lang="en-IN" sz="850" b="1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Expertise</a:t>
              </a:r>
              <a:r>
                <a:rPr lang="en-IN" sz="850" b="1" i="0" u="none" strike="noStrike" cap="none" dirty="0">
                  <a:solidFill>
                    <a:srgbClr val="FFFFFF"/>
                  </a:solidFill>
                  <a:latin typeface="EYInterstate Light" panose="02000506000000020004" pitchFamily="2" charset="0"/>
                  <a:ea typeface="Inter Light"/>
                  <a:cs typeface="Inter Light"/>
                  <a:sym typeface="Inter Light"/>
                </a:rPr>
                <a:t> </a:t>
              </a:r>
              <a:endParaRPr sz="850" dirty="0">
                <a:latin typeface="EYInterstate Light" panose="02000506000000020004" pitchFamily="2" charset="0"/>
              </a:endParaRPr>
            </a:p>
          </p:txBody>
        </p:sp>
      </p:grpSp>
      <p:sp>
        <p:nvSpPr>
          <p:cNvPr id="13" name="Google Shape;110;p1">
            <a:extLst>
              <a:ext uri="{FF2B5EF4-FFF2-40B4-BE49-F238E27FC236}">
                <a16:creationId xmlns:a16="http://schemas.microsoft.com/office/drawing/2014/main" id="{71F24A26-C436-F432-815B-BCB45FA888BA}"/>
              </a:ext>
            </a:extLst>
          </p:cNvPr>
          <p:cNvSpPr txBox="1"/>
          <p:nvPr/>
        </p:nvSpPr>
        <p:spPr>
          <a:xfrm>
            <a:off x="8105982" y="4757601"/>
            <a:ext cx="3319753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3510" indent="-143510">
              <a:spcAft>
                <a:spcPts val="6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</a:rPr>
              <a:t>Bachelor of Technology (CSE) : 9 CGPA</a:t>
            </a:r>
            <a:br>
              <a:rPr lang="en-IN" sz="900" b="1" dirty="0">
                <a:latin typeface="EYInterstate Light" panose="02000506000000020004" pitchFamily="2" charset="0"/>
                <a:ea typeface="Inter Light"/>
              </a:rPr>
            </a:br>
            <a:r>
              <a:rPr lang="en-IN" sz="900" dirty="0">
                <a:latin typeface="EYInterstate Light" panose="02000506000000020004" pitchFamily="2" charset="0"/>
                <a:ea typeface="Inter Light"/>
              </a:rPr>
              <a:t>ITER College (SOA University)</a:t>
            </a:r>
          </a:p>
        </p:txBody>
      </p:sp>
      <p:sp>
        <p:nvSpPr>
          <p:cNvPr id="18" name="Google Shape;112;p1">
            <a:extLst>
              <a:ext uri="{FF2B5EF4-FFF2-40B4-BE49-F238E27FC236}">
                <a16:creationId xmlns:a16="http://schemas.microsoft.com/office/drawing/2014/main" id="{08CB0FE8-D937-37F9-3306-F1EFBD7C64D8}"/>
              </a:ext>
            </a:extLst>
          </p:cNvPr>
          <p:cNvSpPr txBox="1"/>
          <p:nvPr/>
        </p:nvSpPr>
        <p:spPr>
          <a:xfrm>
            <a:off x="3863126" y="1449152"/>
            <a:ext cx="3834046" cy="510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900" tIns="45650" rIns="0" bIns="45650" anchor="t" anchorCtr="0">
            <a:spAutoFit/>
          </a:bodyPr>
          <a:lstStyle/>
          <a:p>
            <a:pPr lvl="3" algn="just">
              <a:spcBef>
                <a:spcPts val="50"/>
              </a:spcBef>
              <a:spcAft>
                <a:spcPts val="70"/>
              </a:spcAft>
            </a:pPr>
            <a:r>
              <a:rPr lang="en-IN" sz="900" b="1" dirty="0"/>
              <a:t>Employee Performance Analysis and Prediction</a:t>
            </a:r>
            <a:endParaRPr lang="en-IN" sz="850" b="1" dirty="0"/>
          </a:p>
          <a:p>
            <a:pPr lvl="3" algn="just">
              <a:spcBef>
                <a:spcPts val="50"/>
              </a:spcBef>
              <a:spcAft>
                <a:spcPts val="70"/>
              </a:spcAft>
            </a:pPr>
            <a:r>
              <a:rPr lang="en-IN" sz="850" i="1" dirty="0"/>
              <a:t>ML Automation &amp; Data Analytics</a:t>
            </a:r>
            <a:endParaRPr lang="en-IN" sz="850" i="1" dirty="0">
              <a:latin typeface="EYInterstate Light" panose="02000506000000020004" pitchFamily="2" charset="0"/>
            </a:endParaRP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Designed an </a:t>
            </a:r>
            <a:r>
              <a:rPr lang="en-IN" sz="850" b="1" dirty="0"/>
              <a:t>employee</a:t>
            </a:r>
            <a:r>
              <a:rPr lang="en-IN" sz="850" dirty="0"/>
              <a:t> performance analytics and </a:t>
            </a:r>
            <a:r>
              <a:rPr lang="en-IN" sz="850" b="1" dirty="0"/>
              <a:t>prediction system</a:t>
            </a:r>
            <a:r>
              <a:rPr lang="en-IN" sz="850" dirty="0"/>
              <a:t> using structured HR data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Performed </a:t>
            </a:r>
            <a:r>
              <a:rPr lang="en-IN" sz="850" b="1" dirty="0"/>
              <a:t>exploratory data analysis (EDA)</a:t>
            </a:r>
            <a:r>
              <a:rPr lang="en-IN" sz="850" dirty="0"/>
              <a:t> to identify key drivers of employee performance such as training participation, educational background, and skill‑based metrics.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Engineered numerical and categorical features and implemented </a:t>
            </a:r>
            <a:r>
              <a:rPr lang="en-IN" sz="850" b="1" dirty="0"/>
              <a:t>scikit‑learn preprocessing pipelines</a:t>
            </a:r>
            <a:r>
              <a:rPr lang="en-IN" sz="850" dirty="0"/>
              <a:t> for data scaling and encoding.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Developed and evaluated supervised regression models </a:t>
            </a:r>
            <a:r>
              <a:rPr lang="en-IN" sz="850" b="1" dirty="0"/>
              <a:t>(Linear Regression, Random Forest, </a:t>
            </a:r>
            <a:r>
              <a:rPr lang="en-IN" sz="850" b="1" dirty="0" err="1"/>
              <a:t>XGBoost</a:t>
            </a:r>
            <a:r>
              <a:rPr lang="en-IN" sz="850" b="1" dirty="0"/>
              <a:t>, </a:t>
            </a:r>
            <a:r>
              <a:rPr lang="en-IN" sz="850" b="1" dirty="0" err="1"/>
              <a:t>CatBoost</a:t>
            </a:r>
            <a:r>
              <a:rPr lang="en-IN" sz="850" b="1" dirty="0"/>
              <a:t>)</a:t>
            </a:r>
            <a:r>
              <a:rPr lang="en-IN" sz="850" dirty="0"/>
              <a:t> to predict </a:t>
            </a:r>
            <a:r>
              <a:rPr lang="en-IN" sz="850" b="1" dirty="0"/>
              <a:t>employee performance scores</a:t>
            </a:r>
            <a:r>
              <a:rPr lang="en-IN" sz="850" dirty="0"/>
              <a:t>. Optimized model performance using </a:t>
            </a:r>
            <a:r>
              <a:rPr lang="en-IN" sz="850" b="1" dirty="0" err="1"/>
              <a:t>GridSearchCV</a:t>
            </a:r>
            <a:r>
              <a:rPr lang="en-IN" sz="850" dirty="0"/>
              <a:t> and cross‑validated with </a:t>
            </a:r>
            <a:r>
              <a:rPr lang="en-IN" sz="850" b="1" dirty="0"/>
              <a:t>R² metrics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Built a </a:t>
            </a:r>
            <a:r>
              <a:rPr lang="en-IN" sz="850" b="1" dirty="0"/>
              <a:t>modular, production‑style ML pipeline</a:t>
            </a:r>
            <a:r>
              <a:rPr lang="en-IN" sz="850" dirty="0"/>
              <a:t> separating data ingestion, transformation, training, and inference.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Deployed a </a:t>
            </a:r>
            <a:r>
              <a:rPr lang="en-IN" sz="850" b="1" dirty="0"/>
              <a:t>Flask‑based inference service</a:t>
            </a:r>
            <a:r>
              <a:rPr lang="en-IN" sz="850" dirty="0"/>
              <a:t> to </a:t>
            </a:r>
            <a:r>
              <a:rPr lang="en-IN" sz="850" b="1" dirty="0"/>
              <a:t>Azure</a:t>
            </a:r>
            <a:r>
              <a:rPr lang="en-IN" sz="850" dirty="0"/>
              <a:t> generate real‑time employee performance predictions. Containerized it using </a:t>
            </a:r>
            <a:r>
              <a:rPr lang="en-IN" sz="850" b="1" dirty="0"/>
              <a:t>Docker.</a:t>
            </a:r>
          </a:p>
          <a:p>
            <a:pPr>
              <a:spcBef>
                <a:spcPts val="50"/>
              </a:spcBef>
              <a:spcAft>
                <a:spcPts val="70"/>
              </a:spcAft>
            </a:pPr>
            <a:endParaRPr lang="en-IN" sz="850" b="1" dirty="0"/>
          </a:p>
          <a:p>
            <a:pPr>
              <a:spcBef>
                <a:spcPts val="50"/>
              </a:spcBef>
              <a:spcAft>
                <a:spcPts val="70"/>
              </a:spcAft>
            </a:pPr>
            <a:r>
              <a:rPr lang="en-IN" sz="900" b="1" dirty="0"/>
              <a:t>Email analysis and classification system (</a:t>
            </a:r>
            <a:r>
              <a:rPr lang="en-IN" sz="900" b="1" dirty="0" err="1"/>
              <a:t>MLOps</a:t>
            </a:r>
            <a:r>
              <a:rPr lang="en-IN" sz="900" b="1" dirty="0"/>
              <a:t>)</a:t>
            </a:r>
            <a:endParaRPr lang="en-IN" sz="850" b="1" dirty="0"/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Built a production‑grade email </a:t>
            </a:r>
            <a:r>
              <a:rPr lang="en-IN" sz="850" dirty="0" err="1"/>
              <a:t>clasification</a:t>
            </a:r>
            <a:r>
              <a:rPr lang="en-IN" sz="850" dirty="0"/>
              <a:t> system using Python and machine learning, following a modular and config‑driven architecture.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Implemented complete </a:t>
            </a:r>
            <a:r>
              <a:rPr lang="en-IN" sz="850" b="1" dirty="0"/>
              <a:t>ETL pipelines</a:t>
            </a:r>
            <a:r>
              <a:rPr lang="en-IN" sz="850" dirty="0"/>
              <a:t> including data ingestion, validation, transformation, model training, evaluation, and batch prediction.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Ingested and managed security datasets using </a:t>
            </a:r>
            <a:r>
              <a:rPr lang="en-IN" sz="850" b="1" dirty="0"/>
              <a:t>MongoDB Atlas</a:t>
            </a:r>
            <a:r>
              <a:rPr lang="en-IN" sz="850" dirty="0"/>
              <a:t> with strong schema validation and logging.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Tracked experiments and model metrics using </a:t>
            </a:r>
            <a:r>
              <a:rPr lang="en-IN" sz="850" b="1" dirty="0" err="1"/>
              <a:t>MLflow</a:t>
            </a:r>
            <a:r>
              <a:rPr lang="en-IN" sz="850" dirty="0"/>
              <a:t> with remote tracking via </a:t>
            </a:r>
            <a:r>
              <a:rPr lang="en-IN" sz="850" b="1" dirty="0" err="1"/>
              <a:t>DagsHub</a:t>
            </a:r>
            <a:r>
              <a:rPr lang="en-IN" sz="850" dirty="0"/>
              <a:t>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Automated model versioning and artifact pushing to </a:t>
            </a:r>
            <a:r>
              <a:rPr lang="en-IN" sz="850" b="1" dirty="0"/>
              <a:t>AWS S3</a:t>
            </a:r>
            <a:r>
              <a:rPr lang="en-IN" sz="850" dirty="0"/>
              <a:t>, enabling reproducible deployments.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Containerized the application using </a:t>
            </a:r>
            <a:r>
              <a:rPr lang="en-IN" sz="850" b="1" dirty="0"/>
              <a:t>Docker</a:t>
            </a:r>
            <a:r>
              <a:rPr lang="en-IN" sz="850" dirty="0"/>
              <a:t> and implemented </a:t>
            </a:r>
            <a:r>
              <a:rPr lang="en-IN" sz="850" b="1" dirty="0"/>
              <a:t>CI/CD pipelines </a:t>
            </a:r>
            <a:r>
              <a:rPr lang="en-IN" sz="850" dirty="0"/>
              <a:t>with </a:t>
            </a:r>
            <a:r>
              <a:rPr lang="en-IN" sz="850" b="1" dirty="0"/>
              <a:t>GitHub Actions</a:t>
            </a:r>
            <a:r>
              <a:rPr lang="en-IN" sz="850" dirty="0"/>
              <a:t>.</a:t>
            </a:r>
          </a:p>
          <a:p>
            <a:pPr marL="360362" lvl="3" indent="-184150" algn="just">
              <a:spcBef>
                <a:spcPts val="50"/>
              </a:spcBef>
              <a:spcAft>
                <a:spcPts val="70"/>
              </a:spcAft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850" dirty="0"/>
              <a:t>Deployed the end‑to‑end system on </a:t>
            </a:r>
            <a:r>
              <a:rPr lang="en-IN" sz="850" b="1" dirty="0"/>
              <a:t>AWS EC2,</a:t>
            </a:r>
            <a:r>
              <a:rPr lang="en-IN" sz="850" dirty="0"/>
              <a:t> supporting scalable classification workflows.</a:t>
            </a:r>
            <a:endParaRPr lang="en-IN" sz="850" b="1" dirty="0"/>
          </a:p>
        </p:txBody>
      </p:sp>
      <p:sp>
        <p:nvSpPr>
          <p:cNvPr id="9" name="Google Shape;110;p1">
            <a:extLst>
              <a:ext uri="{FF2B5EF4-FFF2-40B4-BE49-F238E27FC236}">
                <a16:creationId xmlns:a16="http://schemas.microsoft.com/office/drawing/2014/main" id="{93578D4C-4AC9-8B5C-A25B-9F7F5975A397}"/>
              </a:ext>
            </a:extLst>
          </p:cNvPr>
          <p:cNvSpPr txBox="1"/>
          <p:nvPr/>
        </p:nvSpPr>
        <p:spPr>
          <a:xfrm>
            <a:off x="7910041" y="1492435"/>
            <a:ext cx="3937576" cy="266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C000"/>
              </a:buClr>
            </a:pPr>
            <a:r>
              <a:rPr lang="en-IN" sz="1000" b="1" dirty="0"/>
              <a:t>Vendor Performance &amp; Inventory Data Analysis </a:t>
            </a:r>
          </a:p>
          <a:p>
            <a:pPr>
              <a:buClr>
                <a:srgbClr val="FFC000"/>
              </a:buClr>
            </a:pPr>
            <a:r>
              <a:rPr lang="en-IN" sz="1000" b="1" dirty="0"/>
              <a:t>(Client Project)</a:t>
            </a:r>
            <a:endParaRPr lang="en-IN" sz="1000" dirty="0"/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Performed end-to-end exploratory data analysis (EDA) on vendor, inventory, purchase, sales, and pricing datasets using Python (</a:t>
            </a:r>
            <a:r>
              <a:rPr lang="en-IN" sz="900" b="1" dirty="0"/>
              <a:t>Pandas, NumPy</a:t>
            </a:r>
            <a:r>
              <a:rPr lang="en-IN" sz="900" dirty="0"/>
              <a:t>).</a:t>
            </a:r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Cleaned and transformed raw datasets including inventory levels, vendor invoices, purchases, and sales data.</a:t>
            </a:r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Analysed </a:t>
            </a:r>
            <a:r>
              <a:rPr lang="en-IN" sz="900" b="1" dirty="0"/>
              <a:t>vendor performance metrics</a:t>
            </a:r>
            <a:r>
              <a:rPr lang="en-IN" sz="900" dirty="0"/>
              <a:t> such as pricing trends, purchase volumes, sales contribution, and inventory movement.</a:t>
            </a:r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Evaluated inventory health through beginning vs. ending inventory comparison and </a:t>
            </a:r>
            <a:r>
              <a:rPr lang="en-IN" sz="900" b="1" dirty="0"/>
              <a:t>sales-to-purchase</a:t>
            </a:r>
            <a:r>
              <a:rPr lang="en-IN" sz="900" dirty="0"/>
              <a:t> relationships.</a:t>
            </a:r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Created visualizations using </a:t>
            </a:r>
            <a:r>
              <a:rPr lang="en-IN" sz="900" b="1" dirty="0"/>
              <a:t>Matplotlib and Seaborn</a:t>
            </a:r>
            <a:r>
              <a:rPr lang="en-IN" sz="900" dirty="0"/>
              <a:t> to identify trends, anomalies, and business insights.</a:t>
            </a:r>
          </a:p>
          <a:p>
            <a:pPr marL="360362" lvl="3" indent="-184150" algn="just">
              <a:spcBef>
                <a:spcPts val="630"/>
              </a:spcBef>
              <a:buClr>
                <a:srgbClr val="FFC000"/>
              </a:buClr>
              <a:buSzPts val="575"/>
              <a:buFont typeface="Arial"/>
              <a:buChar char="►"/>
            </a:pPr>
            <a:r>
              <a:rPr lang="en-IN" sz="900" dirty="0"/>
              <a:t>Structured analysis in reusable </a:t>
            </a:r>
            <a:r>
              <a:rPr lang="en-IN" sz="900" dirty="0" err="1"/>
              <a:t>Jupyter</a:t>
            </a:r>
            <a:r>
              <a:rPr lang="en-IN" sz="900" dirty="0"/>
              <a:t> notebooks with clear business interpretation of results.</a:t>
            </a:r>
          </a:p>
        </p:txBody>
      </p:sp>
      <p:sp>
        <p:nvSpPr>
          <p:cNvPr id="3" name="Google Shape;110;p1">
            <a:extLst>
              <a:ext uri="{FF2B5EF4-FFF2-40B4-BE49-F238E27FC236}">
                <a16:creationId xmlns:a16="http://schemas.microsoft.com/office/drawing/2014/main" id="{9C566E5B-3EC0-7CBB-EA6A-BFEA5DAEF115}"/>
              </a:ext>
            </a:extLst>
          </p:cNvPr>
          <p:cNvSpPr txBox="1"/>
          <p:nvPr/>
        </p:nvSpPr>
        <p:spPr>
          <a:xfrm>
            <a:off x="8105980" y="5209135"/>
            <a:ext cx="3319753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ED7D31"/>
              </a:buClr>
              <a:buSzPts val="1170"/>
              <a:buFont typeface="Wingdings" panose="05000000000000000000" pitchFamily="2" charset="2"/>
              <a:buChar char="Ø"/>
            </a:pPr>
            <a:r>
              <a:rPr lang="en-US" sz="900" b="1" dirty="0"/>
              <a:t>Certifications</a:t>
            </a:r>
          </a:p>
          <a:p>
            <a:pPr marL="143510" indent="-143510">
              <a:spcAft>
                <a:spcPts val="4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  <a:ea typeface="Inter Light"/>
              </a:rPr>
              <a:t>Azure AZ-900</a:t>
            </a:r>
          </a:p>
          <a:p>
            <a:pPr marL="143510" indent="-143510">
              <a:spcAft>
                <a:spcPts val="4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  <a:ea typeface="Inter Light"/>
              </a:rPr>
              <a:t>Azure DP-900</a:t>
            </a:r>
          </a:p>
          <a:p>
            <a:pPr marL="143510" indent="-143510">
              <a:spcAft>
                <a:spcPts val="4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  <a:ea typeface="Inter Light"/>
              </a:rPr>
              <a:t>Python (Udemy)</a:t>
            </a:r>
          </a:p>
          <a:p>
            <a:pPr marL="143510" indent="-143510">
              <a:spcAft>
                <a:spcPts val="4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  <a:ea typeface="Inter Light"/>
              </a:rPr>
              <a:t>Machine Learning and Data Science (Udemy)</a:t>
            </a:r>
          </a:p>
          <a:p>
            <a:pPr marL="143510" indent="-143510">
              <a:spcAft>
                <a:spcPts val="400"/>
              </a:spcAft>
              <a:buClr>
                <a:srgbClr val="ED7D31"/>
              </a:buClr>
              <a:buSzPts val="1170"/>
              <a:buFont typeface="Inter Light"/>
              <a:buChar char="•"/>
            </a:pPr>
            <a:r>
              <a:rPr lang="en-IN" sz="900" b="1" dirty="0">
                <a:latin typeface="EYInterstate Light" panose="02000506000000020004" pitchFamily="2" charset="0"/>
                <a:ea typeface="Inter Light"/>
              </a:rPr>
              <a:t>Advance Excel (Udemy)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633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EYInterstate Light</vt:lpstr>
      <vt:lpstr>Wingdings</vt:lpstr>
      <vt:lpstr>Calibri</vt:lpstr>
      <vt:lpstr>Arial</vt:lpstr>
      <vt:lpstr>Inter Light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Sameer Kulkarni</dc:creator>
  <cp:lastModifiedBy>Sachin R Mohapatra</cp:lastModifiedBy>
  <cp:revision>14</cp:revision>
  <dcterms:created xsi:type="dcterms:W3CDTF">2025-04-07T07:33:06Z</dcterms:created>
  <dcterms:modified xsi:type="dcterms:W3CDTF">2026-04-30T04:57:45Z</dcterms:modified>
</cp:coreProperties>
</file>